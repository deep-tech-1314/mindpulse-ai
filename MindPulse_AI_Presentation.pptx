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37160" cy="41148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4B8A6"/>
                </a:solidFill>
              </a:defRPr>
            </a:pPr>
            <a:r>
              <a:t>IBM SKILLSBUILD MASTERCLASS 5: CREATING REAL LIFE PROJECTS</a:t>
            </a:r>
          </a:p>
          <a:p>
            <a:pPr>
              <a:spcAft>
                <a:spcPts val="800"/>
              </a:spcAft>
              <a:defRPr sz="4400" b="1">
                <a:solidFill>
                  <a:srgbClr val="F8FAFC"/>
                </a:solidFill>
              </a:defRPr>
            </a:pPr>
            <a:r>
              <a:t>MindPulse AI</a:t>
            </a:r>
          </a:p>
          <a:p>
            <a:pPr>
              <a:spcAft>
                <a:spcPts val="2400"/>
              </a:spcAft>
              <a:defRPr sz="2000">
                <a:solidFill>
                  <a:srgbClr val="C7D2FE"/>
                </a:solidFill>
              </a:defRPr>
            </a:pPr>
            <a:r>
              <a:t>AI-Powered Youth Mental Health Screening &amp; First-Line Supportive Companion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Aliged with UN SDG 3: Good Health and Well-Being (Target 3.4)</a:t>
            </a:r>
          </a:p>
          <a:p>
            <a:pPr>
              <a:defRPr sz="1400" b="1">
                <a:solidFill>
                  <a:srgbClr val="14B8A6"/>
                </a:solidFill>
              </a:defRPr>
            </a:pPr>
            <a:r>
              <a:t>Real-Time Project Prototype • Lean Canvas • Concept Note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IBM SKILLSBUILD MASTERCLASS 5 • SDG 3: GOOD HEALTH &amp; WELL-BEING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Problem Statement: The Silent Youth Mental Health Crisis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457200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366F1"/>
                </a:solidFill>
              </a:defRPr>
            </a:pPr>
            <a:r>
              <a:t>Deep-Seated Stigma &amp; Shame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Over 75% of distressed youths avoid on-campus counseling.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Fear of academic or social labeling prevents open dialogue.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Mental distress is often dismissed as lack of discipline.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57200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366F1"/>
                </a:solidFill>
              </a:defRPr>
            </a:pPr>
            <a:r>
              <a:t>Severe Shortage of Practitioners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Less than 1 licensed clinician per 100,000 people in semi-urban areas.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Private clinical therapy costs INR 1,500 - 4,000 per hour.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Completely unaffordable for students and dependent youth.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343400"/>
            <a:ext cx="457200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366F1"/>
                </a:solidFill>
              </a:defRPr>
            </a:pPr>
            <a:r>
              <a:t>Delayed Symptom Triage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Students normalize chronic anxiety until functional breakdown.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Lack of objective, accessible psychometric screening tools.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No continuous early-warning mechanism before escalation.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343400"/>
            <a:ext cx="457200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366F1"/>
                </a:solidFill>
              </a:defRPr>
            </a:pPr>
            <a:r>
              <a:t>Slide 5 Problem Statement Sample</a:t>
            </a:r>
          </a:p>
          <a:p>
            <a:pPr>
              <a:spcAft>
                <a:spcPts val="800"/>
              </a:spcAft>
              <a:defRPr sz="1100">
                <a:solidFill>
                  <a:srgbClr val="14B8A6"/>
                </a:solidFill>
              </a:defRPr>
            </a:pPr>
            <a:r>
              <a:t>IBM SkillsBuild Focus Statement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"Lack of mental health support among youth results in stress and anxiety."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"This project aims to create an AI-powered companion for wellness check-ins and guidance."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IBM SKILLSBUILD MASTERCLASS 5 • SDG 3: GOOD HEALTH &amp; WELL-BEING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Proposed Solution: Comprehensive First-Line Care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457200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366F1"/>
                </a:solidFill>
              </a:defRPr>
            </a:pPr>
            <a:r>
              <a:t>1. Empathetic AI Companion ('Aura')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24/7 active listening trained in Cognitive Behavioral Therapy reframing.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Helps deconstruct exam panic, loneliness, and emotional fatigue.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Provides safe, non-judgmental conversational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57200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366F1"/>
                </a:solidFill>
              </a:defRPr>
            </a:pPr>
            <a:r>
              <a:t>2. Standardized Clinical Screeners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Full validated PHQ-9 (Depression) and GAD-7 (Anxiety) inventories.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Real-time point scoring from Minimal to Severe risk severity.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Instant generation of evidence-based self-care guidance.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343400"/>
            <a:ext cx="457200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366F1"/>
                </a:solidFill>
              </a:defRPr>
            </a:pPr>
            <a:r>
              <a:t>3. Neuro-Somatic Calm Zone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Interactive 4-7-8 and Box breathing visual pacing circle.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Synthesized Web Audio tones for soothing physiological regulation.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5-4-3-2-1 Sensory Grounding step tracker to interrupt panic attacks.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343400"/>
            <a:ext cx="457200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366F1"/>
                </a:solidFill>
              </a:defRPr>
            </a:pPr>
            <a:r>
              <a:t>4. 24/7 Crisis Escalation &amp; SOS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Intelligent detection of self-harm / crisis intent phrases.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Immediate one-click dialing for Tele-MANAS (14416) &amp; KIRAN (1800-599-0019).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100% on-device private storage vault ensuring zero data leakage.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IBM SKILLSBUILD MASTERCLASS 5 • SDG 3: GOOD HEALTH &amp; WELL-BEING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System Architecture: Modular, Robust &amp; Responsive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274320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366F1"/>
                </a:solidFill>
              </a:defRPr>
            </a:pPr>
            <a:r>
              <a:t>User Interface &amp; Experience</a:t>
            </a:r>
          </a:p>
          <a:p>
            <a:pPr>
              <a:spcAft>
                <a:spcPts val="800"/>
              </a:spcAft>
              <a:defRPr sz="1100">
                <a:solidFill>
                  <a:srgbClr val="14B8A6"/>
                </a:solidFill>
              </a:defRPr>
            </a:pPr>
            <a:r>
              <a:t>Modern Presentation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Clean Glassmorphic Theme with dark and calm-light mode switcher.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Mobile-first responsive layout accessible from any device browser.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Micro-animations and haptic/audio feedback for sensory comfort.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Direct export links for Lean Canvas, Concept Note, and Slide Deck.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874519"/>
            <a:ext cx="274320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366F1"/>
                </a:solidFill>
              </a:defRPr>
            </a:pPr>
            <a:r>
              <a:t>Core Intelligence Engine</a:t>
            </a:r>
          </a:p>
          <a:p>
            <a:pPr>
              <a:spcAft>
                <a:spcPts val="800"/>
              </a:spcAft>
              <a:defRPr sz="1100">
                <a:solidFill>
                  <a:srgbClr val="14B8A6"/>
                </a:solidFill>
              </a:defRPr>
            </a:pPr>
            <a:r>
              <a:t>Client-Side Logic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Empathetic conversational response processor for common stressors.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Algorithmic clinical score calculators for PHQ-9 and GAD-7 tests.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Safety watchdog scanning for acute distress and crisis triggers.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Audio oscillator synthesizer using HTML5 Web Audio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74519"/>
            <a:ext cx="274320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366F1"/>
                </a:solidFill>
              </a:defRPr>
            </a:pPr>
            <a:r>
              <a:t>Privacy Vault &amp; Persistence</a:t>
            </a:r>
          </a:p>
          <a:p>
            <a:pPr>
              <a:spcAft>
                <a:spcPts val="800"/>
              </a:spcAft>
              <a:defRPr sz="1100">
                <a:solidFill>
                  <a:srgbClr val="14B8A6"/>
                </a:solidFill>
              </a:defRPr>
            </a:pPr>
            <a:r>
              <a:t>Privacy-by-Design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Zero mandatory logins or invasive profile registrations.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Mood logs and 7-day energy trends stored exclusively on-device.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Zero cloud ad-tracking, data harvesting, or server leaks.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Printable clinical assessment reports generated in browser.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IBM SKILLSBUILD MASTERCLASS 5 • SDG 3: GOOD HEALTH &amp; WELL-BEING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Clinical Screening Rigor: PHQ-9 &amp; GAD-7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457200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366F1"/>
                </a:solidFill>
              </a:defRPr>
            </a:pPr>
            <a:r>
              <a:t>PHQ-9 (Depression Inventory)</a:t>
            </a:r>
          </a:p>
          <a:p>
            <a:pPr>
              <a:spcAft>
                <a:spcPts val="800"/>
              </a:spcAft>
              <a:defRPr sz="1100">
                <a:solidFill>
                  <a:srgbClr val="14B8A6"/>
                </a:solidFill>
              </a:defRPr>
            </a:pPr>
            <a:r>
              <a:t>Depression Severity Scale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Globally recognized 9-question diagnostic tool.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Assesses mood, anhedonia, sleep, fatigue, appetite, self-worth, and concentration.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Scoring Scale: 0 to 27 total points.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Categories: Minimal (0-4), Mild (5-9), Moderate (10-14), Moderately Severe (15-19), Severe (20-27).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Question 9 Safety Flag: Triggers immediate crisis helpline alerts if any self-harm thoughts are indicated.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57200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366F1"/>
                </a:solidFill>
              </a:defRPr>
            </a:pPr>
            <a:r>
              <a:t>GAD-7 (Anxiety Inventory)</a:t>
            </a:r>
          </a:p>
          <a:p>
            <a:pPr>
              <a:spcAft>
                <a:spcPts val="800"/>
              </a:spcAft>
              <a:defRPr sz="1100">
                <a:solidFill>
                  <a:srgbClr val="14B8A6"/>
                </a:solidFill>
              </a:defRPr>
            </a:pPr>
            <a:r>
              <a:t>Anxiety Severity Scale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Evidence-based 7-item Generalized Anxiety Disorder screener.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Measures nervousness, uncontrollable worry, restlessness, irritability, and dread.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Scoring Scale: 0 to 21 total points.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Categories: Minimal (0-4), Mild (5-9), Moderate (10-14), Severe (15-21).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Provides tailored somatic guidance and counselor referral advice based on score threshold.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IBM SKILLSBUILD MASTERCLASS 5 • SDG 3: GOOD HEALTH &amp; WELL-BEING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Neuro-Somatic Tools: Somatic De-escalation &amp; Grounding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457200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366F1"/>
                </a:solidFill>
              </a:defRPr>
            </a:pPr>
            <a:r>
              <a:t>4-7-8 &amp; Box Breathing Visualizer</a:t>
            </a:r>
          </a:p>
          <a:p>
            <a:pPr>
              <a:spcAft>
                <a:spcPts val="800"/>
              </a:spcAft>
              <a:defRPr sz="1100">
                <a:solidFill>
                  <a:srgbClr val="14B8A6"/>
                </a:solidFill>
              </a:defRPr>
            </a:pPr>
            <a:r>
              <a:t>Parasympathetic Activation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Scientific Basis: Prolonged exhalation stimulates the vagus nerve, rapidly lowering heart rate and sympathetic arousal.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Interactive Pacing Circle: Smooth visual expansion (Inhale 4s), hold (7s), and contraction (Exhale 8s).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Synthesized Audio Cues: Gentle frequency tones cue pacing without needing to look constantly at screen.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Box Mode: Alternative 4-4-4-4 pattern used by high-performance responders for acute tactical calm.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57200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366F1"/>
                </a:solidFill>
              </a:defRPr>
            </a:pPr>
            <a:r>
              <a:t>5-4-3-2-1 Sensory Grounding</a:t>
            </a:r>
          </a:p>
          <a:p>
            <a:pPr>
              <a:spcAft>
                <a:spcPts val="800"/>
              </a:spcAft>
              <a:defRPr sz="1100">
                <a:solidFill>
                  <a:srgbClr val="14B8A6"/>
                </a:solidFill>
              </a:defRPr>
            </a:pPr>
            <a:r>
              <a:t>Panic Interrupt Protocol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Cognitive Interrupter: Halts dissociative panic spirals by redirecting focus to external sensory anchors.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Step 5 (Sight): Identify 5 visual objects in the surroundings.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Step 4 (Touch): Acknowledge 4 physical textures or physical sensations.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Step 3 (Sound): Discern 3 ambient acoustic sounds.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Step 2 (Smell): Notice 2 olfactory cues.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Step 1 (Affirmation): Express 1 positive self-affirming belief.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IBM SKILLSBUILD MASTERCLASS 5 • SDG 3: GOOD HEALTH &amp; WELL-BEING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Lean Canvas Matrix: Ash Maurya / Lean Foundry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274320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366F1"/>
                </a:solidFill>
              </a:defRPr>
            </a:pPr>
            <a:r>
              <a:t>Problem &amp; Alternatives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Stigma, cost, and scarcity of mental healthcare.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Existing: Costly apps ($70/yr) &amp; unmoderated forums.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874519"/>
            <a:ext cx="274320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366F1"/>
                </a:solidFill>
              </a:defRPr>
            </a:pPr>
            <a:r>
              <a:t>Unique Value Proposition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"Instant, zero-cost, stigma-free mental health first-aid in your pocket."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High-Level: Duolingo meets Crisis Text 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74519"/>
            <a:ext cx="274320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366F1"/>
                </a:solidFill>
              </a:defRPr>
            </a:pPr>
            <a:r>
              <a:t>Customer Segments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Students (15-25), exam aspirants, early career youth.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Early Adopters: Undergrads facing high burnout.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274320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366F1"/>
                </a:solidFill>
              </a:defRPr>
            </a:pPr>
            <a:r>
              <a:t>Channels &amp; Reach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University wellness centers &amp; student unions.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IBM SkillsBuild community &amp; youth NGO drives.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11480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4343400"/>
            <a:ext cx="274320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366F1"/>
                </a:solidFill>
              </a:defRPr>
            </a:pPr>
            <a:r>
              <a:t>Key Metrics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Daily Active Users (DAU) &amp; 14-day retention rate.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Completed clinical screeners &amp; crisis escalations.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11480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343400"/>
            <a:ext cx="274320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366F1"/>
                </a:solidFill>
              </a:defRPr>
            </a:pPr>
            <a:r>
              <a:t>Financial Model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Low fixed cost (CDN hosting, advisory board).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Revenue: B2B university licensing &amp; CSR grants.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IBM SKILLSBUILD MASTERCLASS 5 • SDG 3: GOOD HEALTH &amp; WELL-BEING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Social Impact: Alignment with UN Sustainable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457200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366F1"/>
                </a:solidFill>
              </a:defRPr>
            </a:pPr>
            <a:r>
              <a:t>Target 3.4: Mental Health Promotion</a:t>
            </a:r>
          </a:p>
          <a:p>
            <a:pPr>
              <a:spcAft>
                <a:spcPts val="800"/>
              </a:spcAft>
              <a:defRPr sz="1100">
                <a:solidFill>
                  <a:srgbClr val="14B8A6"/>
                </a:solidFill>
              </a:defRPr>
            </a:pPr>
            <a:r>
              <a:t>Global SDG 3 Alignment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Directly addresses UN SDG 3 target to reduce premature mortality and promote mental health and well-being.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Democratizes first-line mental health screening across socio-economic strata, particularly in Tier-2/3 regions.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Normalizes daily emotional hygiene and proactive self-checkups among young people before crisis onset.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Provides immediate bridge to public mental healthcare infrastructure (Tele-MANAS &amp; KIRAN initiatives).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57200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366F1"/>
                </a:solidFill>
              </a:defRPr>
            </a:pPr>
            <a:r>
              <a:t>Measurable Impact Indicators (KPIs)</a:t>
            </a:r>
          </a:p>
          <a:p>
            <a:pPr>
              <a:spcAft>
                <a:spcPts val="800"/>
              </a:spcAft>
              <a:defRPr sz="1100">
                <a:solidFill>
                  <a:srgbClr val="14B8A6"/>
                </a:solidFill>
              </a:defRPr>
            </a:pPr>
            <a:r>
              <a:t>Evaluation &amp; Monitoring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Screening Completion Rate: Volume of youth taking objective, validated tests annually.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Somatic Anxiety Reduction: Quantitative reduction in self-reported tension post 4-7-8 breathing sessions.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Timely Crisis Redirection: Zero latency in connecting at-risk individuals to free national emergency helplines.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Habitual Reflection: Streak rates on daily mood and energy self-monitoring.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IBM SKILLSBUILD MASTERCLASS 5 • SDG 3: GOOD HEALTH &amp; WELL-BEING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Project Roadmap &amp; 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274320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366F1"/>
                </a:solidFill>
              </a:defRPr>
            </a:pPr>
            <a:r>
              <a:t>Phase 1: Current MVP</a:t>
            </a:r>
          </a:p>
          <a:p>
            <a:pPr>
              <a:spcAft>
                <a:spcPts val="800"/>
              </a:spcAft>
              <a:defRPr sz="1100">
                <a:solidFill>
                  <a:srgbClr val="14B8A6"/>
                </a:solidFill>
              </a:defRPr>
            </a:pPr>
            <a:r>
              <a:t>Completed &amp; Verified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Complete responsive web application.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Aura AI Chat companion.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PHQ-9 and GAD-7 screeners with reports.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4-7-8 breathing visualizer.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Mood &amp; energy micro-tracker.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Verified national SOS hotline directory.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874519"/>
            <a:ext cx="274320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366F1"/>
                </a:solidFill>
              </a:defRPr>
            </a:pPr>
            <a:r>
              <a:t>Phase 2: Regional Vernacular</a:t>
            </a:r>
          </a:p>
          <a:p>
            <a:pPr>
              <a:spcAft>
                <a:spcPts val="800"/>
              </a:spcAft>
              <a:defRPr sz="1100">
                <a:solidFill>
                  <a:srgbClr val="14B8A6"/>
                </a:solidFill>
              </a:defRPr>
            </a:pPr>
            <a:r>
              <a:t>Accessibility Expansion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Multilingual localized UI (Hindi, Marathi, Bengali, Tamil, Telugu).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Voice-enabled conversational inputs for rural accessibility.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Offline Progressive Web App (PWA) installation directly to phone home screen.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Smart push notifications for daily mindfulness check-ins.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74519"/>
            <a:ext cx="274320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366F1"/>
                </a:solidFill>
              </a:defRPr>
            </a:pPr>
            <a:r>
              <a:t>Phase 3: Institutional Pilot</a:t>
            </a:r>
          </a:p>
          <a:p>
            <a:pPr>
              <a:spcAft>
                <a:spcPts val="800"/>
              </a:spcAft>
              <a:defRPr sz="1100">
                <a:solidFill>
                  <a:srgbClr val="14B8A6"/>
                </a:solidFill>
              </a:defRPr>
            </a:pPr>
            <a:r>
              <a:t>Ecosystem Scaling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Anonymized campus wellness dashboard for university administrators.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Tele-therapy referral integration with accredited psychological partners.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Peer-support moderated circles with strict safety guardrails.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Longitudinal research publication on early triage efficacy.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IBM SKILLSBUILD MASTERCLASS 5 • SDG 3: GOOD HEALTH &amp; WELL-BEING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Summary &amp; Live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457200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366F1"/>
                </a:solidFill>
              </a:defRPr>
            </a:pPr>
            <a:r>
              <a:t>Submission Deliverables Overview</a:t>
            </a:r>
          </a:p>
          <a:p>
            <a:pPr>
              <a:spcAft>
                <a:spcPts val="800"/>
              </a:spcAft>
              <a:defRPr sz="1100">
                <a:solidFill>
                  <a:srgbClr val="14B8A6"/>
                </a:solidFill>
              </a:defRPr>
            </a:pPr>
            <a:r>
              <a:t>IBM SkillsBuild Masterclass 5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1. Real-Time Working Application: Live on localhost:8080 with zero setup.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2. Lean Canvas: Official 9-block format (both PDF-ready HTML &amp; Markdown).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3. Concept Note: Formal academic project proposal matching all guidelines.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4. Presentation Slides: Standard 16:9 PowerPoint (.pptx) &amp; web deck.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5. Complete Documentation: Clean codebase with README and deployment guide.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57200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366F1"/>
                </a:solidFill>
              </a:defRPr>
            </a:pPr>
            <a:r>
              <a:t>Ready for Demonstration</a:t>
            </a:r>
          </a:p>
          <a:p>
            <a:pPr>
              <a:spcAft>
                <a:spcPts val="800"/>
              </a:spcAft>
              <a:defRPr sz="1100">
                <a:solidFill>
                  <a:srgbClr val="14B8A6"/>
                </a:solidFill>
              </a:defRPr>
            </a:pPr>
            <a:r>
              <a:t>Live Prototype Walkthrough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Let us explore the live prototype: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• Conversational emotional check-in with Aura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• Standardized clinical self-assessment in action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• Guided parasympathetic 4-7-8 breathing animation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• Daily mood journal &amp; trend visualization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• Emergency crisis redirection protocol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